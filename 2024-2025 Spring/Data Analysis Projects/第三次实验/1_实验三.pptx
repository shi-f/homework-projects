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Override2.xml" ContentType="application/vnd.openxmlformats-officedocument.themeOverrid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94" r:id="rId4"/>
    <p:sldMasterId id="2147483706" r:id="rId5"/>
  </p:sldMasterIdLst>
  <p:notesMasterIdLst>
    <p:notesMasterId r:id="rId13"/>
  </p:notesMasterIdLst>
  <p:sldIdLst>
    <p:sldId id="256" r:id="rId6"/>
    <p:sldId id="289" r:id="rId7"/>
    <p:sldId id="259" r:id="rId8"/>
    <p:sldId id="283" r:id="rId9"/>
    <p:sldId id="292" r:id="rId10"/>
    <p:sldId id="291" r:id="rId11"/>
    <p:sldId id="280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1" autoAdjust="0"/>
    <p:restoredTop sz="65452" autoAdjust="0"/>
  </p:normalViewPr>
  <p:slideViewPr>
    <p:cSldViewPr snapToGrid="0">
      <p:cViewPr varScale="1">
        <p:scale>
          <a:sx n="73" d="100"/>
          <a:sy n="73" d="100"/>
        </p:scale>
        <p:origin x="1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80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367C1-AB6A-4C6A-8E9D-A700DA08EB98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0A9A8-4D01-4009-9222-6D04354C32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国际学生评估项目</a:t>
            </a:r>
            <a:r>
              <a:rPr lang="en-US" altLang="zh-CN" dirty="0">
                <a:sym typeface="+mn-ea"/>
              </a:rPr>
              <a:t>(PISA)</a:t>
            </a:r>
            <a:r>
              <a:rPr lang="zh-CN" altLang="en-US" dirty="0">
                <a:sym typeface="+mn-ea"/>
              </a:rPr>
              <a:t>是对世界各地 </a:t>
            </a:r>
            <a:r>
              <a:rPr lang="en-US" altLang="zh-CN" b="1" dirty="0">
                <a:sym typeface="+mn-ea"/>
              </a:rPr>
              <a:t>15 </a:t>
            </a:r>
            <a:r>
              <a:rPr lang="zh-CN" altLang="en-US" b="1" dirty="0">
                <a:sym typeface="+mn-ea"/>
              </a:rPr>
              <a:t>岁学生</a:t>
            </a:r>
            <a:r>
              <a:rPr lang="zh-CN" altLang="en-US" dirty="0">
                <a:sym typeface="+mn-ea"/>
              </a:rPr>
              <a:t>进行的</a:t>
            </a:r>
            <a:r>
              <a:rPr lang="zh-CN" altLang="en-US" b="1" dirty="0">
                <a:sym typeface="+mn-ea"/>
              </a:rPr>
              <a:t>三年一次调查</a:t>
            </a:r>
            <a:r>
              <a:rPr lang="zh-CN" altLang="en-US" dirty="0">
                <a:sym typeface="+mn-ea"/>
              </a:rPr>
              <a:t>，评估他们获得了充分参与社会和经济生活所必需的</a:t>
            </a:r>
            <a:r>
              <a:rPr lang="zh-CN" altLang="en-US" b="1" dirty="0">
                <a:sym typeface="+mn-ea"/>
              </a:rPr>
              <a:t>关键知识和技能的程度</a:t>
            </a:r>
            <a:r>
              <a:rPr lang="zh-CN" altLang="en-US" dirty="0">
                <a:sym typeface="+mn-ea"/>
              </a:rPr>
              <a:t>。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ym typeface="+mn-ea"/>
              </a:rPr>
              <a:t>其覆盖范围之广</a:t>
            </a:r>
            <a:r>
              <a:rPr lang="zh-CN" altLang="en-US" dirty="0">
                <a:sym typeface="+mn-ea"/>
              </a:rPr>
              <a:t>，被称为全球教育的“奥林匹克盛会”，图中是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项目的首页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图中具体展示了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项目的覆盖范围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0A9A8-4D01-4009-9222-6D04354C329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477007"/>
            <a:ext cx="2999317" cy="28892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5371" y="6477000"/>
            <a:ext cx="9046633" cy="2809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79509" y="2132856"/>
            <a:ext cx="8636000" cy="1828800"/>
          </a:xfrm>
        </p:spPr>
        <p:txBody>
          <a:bodyPr anchor="b"/>
          <a:lstStyle>
            <a:lvl1pPr>
              <a:defRPr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487488" y="4437112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10" name="Picture 1" descr="E:\2013Qi\2012教育部奖 杰青申请 安徽省科技进步奖\申请资料\答辩PPT\ustc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459" y="142851"/>
            <a:ext cx="1714512" cy="1279894"/>
          </a:xfrm>
          <a:prstGeom prst="rect">
            <a:avLst/>
          </a:prstGeom>
          <a:noFill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1pPr>
            <a:lvl2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b" anchorCtr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3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7"/>
            <a:ext cx="17272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 hasCustomPrompt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 hasCustomPrompt="1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0" y="1271595"/>
            <a:ext cx="711200" cy="2444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 hasCustomPrompt="1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 hasCustomPrompt="1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 hasCustomPrompt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95"/>
            <a:ext cx="711200" cy="2444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 hasCustomPrompt="1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 hasCustomPrompt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7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6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5" y="3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7"/>
            <a:ext cx="1930400" cy="663575"/>
          </a:xfrm>
        </p:spPr>
        <p:txBody>
          <a:bodyPr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7"/>
            <a:ext cx="6096000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5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7"/>
            <a:ext cx="27432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7"/>
            <a:ext cx="29464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5" y="6248407"/>
            <a:ext cx="74316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23"/>
            <a:ext cx="533400" cy="325967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477007"/>
            <a:ext cx="2999317" cy="28892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5371" y="6477000"/>
            <a:ext cx="9046633" cy="2809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79509" y="2132856"/>
            <a:ext cx="8636000" cy="1828800"/>
          </a:xfrm>
        </p:spPr>
        <p:txBody>
          <a:bodyPr anchor="b"/>
          <a:lstStyle>
            <a:lvl1pPr>
              <a:defRPr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487488" y="4437112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10" name="Picture 1" descr="E:\2013Qi\2012教育部奖 杰青申请 安徽省科技进步奖\申请资料\答辩PPT\ustc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459" y="142851"/>
            <a:ext cx="1714512" cy="1279894"/>
          </a:xfrm>
          <a:prstGeom prst="rect">
            <a:avLst/>
          </a:prstGeom>
          <a:noFill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1pPr>
            <a:lvl2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F4171-88A7-4181-A250-18509DA386A1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b" anchorCtr="1"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认知诊断模型调研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031F1-5063-4188-8D59-5595F3E5442B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3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606E37E2-9BEB-4B3E-AAD5-42B324756813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7"/>
            <a:ext cx="17272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301CB58-858A-416C-B34A-B73A3D1FEF1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 hasCustomPrompt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 hasCustomPrompt="1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F414EF72-8ABE-4EFD-AEF7-277CCB484C57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0" y="1271595"/>
            <a:ext cx="711200" cy="2444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389A99C-6236-4545-BD23-431F323BE439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 hasCustomPrompt="1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 hasCustomPrompt="1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 hasCustomPrompt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5B098D11-110E-490E-9DE7-1AFE67F55BC3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95"/>
            <a:ext cx="711200" cy="2444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E4AB2F9-F169-4A34-A5CD-3F184725DF04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D5453-2171-48C6-BC35-65E2F3A72391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认知诊断模型研究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AB57F-F47D-4FFF-AD86-77605CB1AC10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1A957342-8D8D-48CD-B9A7-FF197BF1226C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5" y="6248407"/>
            <a:ext cx="72284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7575A84-FAFF-4CA9-96B5-1956E9548C41}" type="slidenum">
              <a:rPr lang="zh-CN" altLang="en-US">
                <a:solidFill>
                  <a:srgbClr val="775F55"/>
                </a:solidFill>
              </a:rPr>
              <a:t>‹#›</a:t>
            </a:fld>
            <a:endParaRPr lang="en-US" altLang="zh-CN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 hasCustomPrompt="1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 hasCustomPrompt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B8ED7-EDA5-4926-B399-BAF51A97A569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D7F59-3D83-4C55-A296-FA5A8BD28D1B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7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6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5" y="3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7"/>
            <a:ext cx="35560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AFACFFA4-4A46-4A54-8965-FE763BCBDC86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7"/>
            <a:ext cx="1930400" cy="663575"/>
          </a:xfrm>
        </p:spPr>
        <p:txBody>
          <a:bodyPr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2C5B853-42E2-4499-9BD2-5AC1CD9920C4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7"/>
            <a:ext cx="6096000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srgbClr val="775F55"/>
                </a:solidFill>
              </a:rPr>
              <a:t>Personalized travel package recommendation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E1078-FF25-438C-9881-15516216CFEB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B0206-68C1-44A4-8C2C-F18C08A089A8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5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7"/>
            <a:ext cx="27432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7"/>
            <a:ext cx="2946400" cy="365125"/>
          </a:xfrm>
        </p:spPr>
        <p:txBody>
          <a:bodyPr/>
          <a:lstStyle>
            <a:lvl1pPr algn="l">
              <a:defRPr>
                <a:latin typeface="Tw Cen MT" pitchFamily="34" charset="0"/>
              </a:defRPr>
            </a:lvl1pPr>
          </a:lstStyle>
          <a:p>
            <a:pPr>
              <a:defRPr/>
            </a:pPr>
            <a:fld id="{CAAC5CD7-E80B-43FF-ADB9-7222DA6C8EA8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5" y="6248407"/>
            <a:ext cx="7431617" cy="365125"/>
          </a:xfrm>
        </p:spPr>
        <p:txBody>
          <a:bodyPr/>
          <a:lstStyle>
            <a:lvl1pPr algn="r">
              <a:defRPr>
                <a:latin typeface="Tw Cen MT" pitchFamily="34" charset="0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23"/>
            <a:ext cx="533400" cy="325967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1A48E6-510A-4956-8C1E-7B4EF81485B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9C4EE-22AF-4022-B6AF-3FAF1BD5A6FF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8793D-EE6A-4D7D-B448-E30976B0D4D9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07F34-1726-4DA4-AA0E-89A3D91D09EB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C482A-60CC-424E-8675-7CE69254BBB9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AC3AA-A72B-4C76-8615-9F103426C062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96919-6F0D-4646-92A9-E5A641AD6D06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9B209-C6C4-40FB-A5BF-05C558260034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07504-3B4E-428B-8F68-FDABFC7C3C9F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C5F355-8CDB-4894-97F8-B8897CA74840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2D83F-E833-456E-858E-9FA388BFC997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A2FD1-F389-43B5-A7E8-3A50D16C197C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ACA83-B6F9-4D10-BC91-0EE1F2AF8298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FD2B4-48D7-408C-A897-FC1C85EE503A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03B26-A023-4209-9A72-EC9BF0337983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C8653-3241-4082-B0A9-D6CD72292263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基于用户兴趣建模的推荐方法及应用研究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2353B-A913-4B82-B175-E158D56AF1D1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4789B-62FE-4037-BE32-74FF303AAB69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DD4DA-7551-4349-BBC3-3338B4604FC4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7" y="228600"/>
            <a:ext cx="843491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CBE2-471C-4939-A0A6-CCD3247F2BA4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情境感知的信息推荐方法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699C0-D733-40B7-854C-6F1FD8B05479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image" Target="../media/image3.jpeg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image" Target="../media/image3.jpeg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7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400807"/>
            <a:ext cx="3556000" cy="2127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fld id="{5736266F-A7E6-4DBB-848D-016AD00C13DB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8005" y="6400807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40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990600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914403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>
              <a:defRPr sz="1400" b="1">
                <a:solidFill>
                  <a:schemeClr val="bg1"/>
                </a:solidFill>
                <a:latin typeface="Tw Cen MT" pitchFamily="34" charset="0"/>
                <a:ea typeface="宋体" panose="02010600030101010101" pitchFamily="2" charset="-122"/>
              </a:defRPr>
            </a:lvl1pPr>
          </a:lstStyle>
          <a:p>
            <a:fld id="{1593E8DA-FE67-414B-BF91-9CBA0455B12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1" descr="E:\2013Qi\2012教育部奖 杰青申请 安徽省科技进步奖\申请资料\答辩PPT\ustclogo.jpg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10953785" y="-24"/>
            <a:ext cx="1176435" cy="87821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8770" indent="-318770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39445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F4AC3-D76C-4930-B0CE-0F02FAFD246D}" type="datetimeFigureOut">
              <a:rPr lang="zh-CN" altLang="en-US" smtClean="0"/>
              <a:t>2025/3/26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D03B-4233-44D1-A48C-CE150F7EF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7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400807"/>
            <a:ext cx="3556000" cy="2127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C6F2DE1-95A4-426B-9443-5B1FAE559994}" type="datetime1">
              <a:rPr lang="en-US" altLang="zh-CN" smtClean="0">
                <a:solidFill>
                  <a:srgbClr val="775F55"/>
                </a:solidFill>
              </a:rPr>
              <a:t>3/26/2025</a:t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8005" y="6400807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40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775F55"/>
                </a:solidFill>
              </a:rPr>
              <a:t>                                                                  认知诊断模型研究</a:t>
            </a:r>
            <a:endParaRPr lang="en-US" altLang="zh-CN" dirty="0">
              <a:solidFill>
                <a:srgbClr val="775F55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990600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914403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>
              <a:defRPr sz="1400" b="1">
                <a:solidFill>
                  <a:schemeClr val="bg1"/>
                </a:solidFill>
                <a:latin typeface="Tw Cen MT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57FCECE-B8F0-4E41-8C68-B5EF7873DDC8}" type="slidenum">
              <a:rPr lang="zh-CN" altLang="en-US">
                <a:solidFill>
                  <a:prstClr val="white"/>
                </a:solidFill>
              </a:rPr>
              <a:t>‹#›</a:t>
            </a:fld>
            <a:endParaRPr lang="en-US" altLang="zh-CN">
              <a:solidFill>
                <a:prstClr val="white"/>
              </a:solidFill>
            </a:endParaRPr>
          </a:p>
        </p:txBody>
      </p:sp>
      <p:pic>
        <p:nvPicPr>
          <p:cNvPr id="12" name="Picture 1" descr="E:\2013Qi\2012教育部奖 杰青申请 安徽省科技进步奖\申请资料\答辩PPT\ustclogo.jpg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10953785" y="-24"/>
            <a:ext cx="1176435" cy="87821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8770" indent="-318770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39445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 baseline="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79650" y="990600"/>
            <a:ext cx="79248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kumimoji="1" sz="2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1pPr>
            <a:lvl2pPr marL="640080" indent="-273050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kumimoji="1" sz="22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2pPr>
            <a:lvl3pPr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kumimoji="1" sz="20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3pPr>
            <a:lvl4pPr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kumimoji="1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4pPr>
            <a:lvl5pPr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4800" dirty="0">
              <a:solidFill>
                <a:schemeClr val="bg1"/>
              </a:solidFill>
              <a:latin typeface="Arial Black" panose="020B0A04020102020204" pitchFamily="34" charset="0"/>
              <a:ea typeface="隶书" panose="020105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kumimoji="0" lang="zh-CN" altLang="en-US" sz="4800" dirty="0">
                <a:solidFill>
                  <a:schemeClr val="bg1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数据分析及实践</a:t>
            </a:r>
            <a:endParaRPr kumimoji="0" lang="zh-CN" altLang="en-US" sz="4800" dirty="0">
              <a:solidFill>
                <a:schemeClr val="bg1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kumimoji="0"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Analysis and Practice of the Data</a:t>
            </a: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kumimoji="0"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实验课（三）</a:t>
            </a:r>
            <a:endParaRPr kumimoji="0" lang="en-US" altLang="zh-CN" sz="4400" dirty="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071813" y="4243249"/>
            <a:ext cx="56880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kumimoji="1" sz="2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1pPr>
            <a:lvl2pPr marL="640080" indent="-273050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kumimoji="1" sz="22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2pPr>
            <a:lvl3pPr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kumimoji="1" sz="20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3pPr>
            <a:lvl4pPr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kumimoji="1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4pPr>
            <a:lvl5pPr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kumimoji="1" sz="1600">
                <a:solidFill>
                  <a:schemeClr val="tx1"/>
                </a:solidFill>
                <a:latin typeface="Tw Cen MT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刘 淇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1" dirty="0">
                <a:solidFill>
                  <a:srgbClr val="775F55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Email: </a:t>
            </a:r>
            <a:r>
              <a:rPr kumimoji="0" lang="en-US" altLang="zh-CN" sz="18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qiliuql@ustc.edu.cn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73494" y="5064457"/>
            <a:ext cx="605495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课程主页：</a:t>
            </a:r>
          </a:p>
          <a:p>
            <a:pPr marL="342900" indent="-342900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http://staff.ustc.edu.cn/~qiliuql/AD202</a:t>
            </a:r>
            <a:r>
              <a:rPr lang="en-US" altLang="zh-CN" sz="20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0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实验三：</a:t>
            </a:r>
            <a:r>
              <a:rPr lang="en-US" altLang="zh-CN" dirty="0"/>
              <a:t>PISA</a:t>
            </a:r>
            <a:r>
              <a:rPr lang="zh-CN" altLang="en-US" dirty="0"/>
              <a:t>学校问卷数据集探索与分析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39395" y="1268730"/>
            <a:ext cx="4578350" cy="4968240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项目背景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pPr lvl="1"/>
            <a:r>
              <a:rPr lang="en-US" altLang="zh-CN" dirty="0">
                <a:sym typeface="+mn-ea"/>
              </a:rPr>
              <a:t>Programme for International Student Assessment</a:t>
            </a:r>
            <a:r>
              <a:rPr lang="zh-CN" altLang="en-US" dirty="0"/>
              <a:t>（</a:t>
            </a:r>
            <a:r>
              <a:rPr lang="en-US" altLang="zh-CN" dirty="0"/>
              <a:t>PISA</a:t>
            </a:r>
            <a:r>
              <a:rPr lang="zh-CN" altLang="en-US" dirty="0"/>
              <a:t>）是由经济合作与发展组织发起的一项全球性的教育评估项目，旨在评估</a:t>
            </a:r>
            <a:r>
              <a:rPr lang="en-US" altLang="zh-CN" dirty="0"/>
              <a:t>15</a:t>
            </a:r>
            <a:r>
              <a:rPr lang="zh-CN" altLang="en-US" dirty="0"/>
              <a:t>岁学生运用阅读、数学和科学领域的核心素养，并通过大规模的跨国数据收集和分析，为各国教育政策的制定提供参考依据。</a:t>
            </a:r>
            <a:endParaRPr lang="en-US" altLang="zh-CN" dirty="0"/>
          </a:p>
        </p:txBody>
      </p:sp>
      <p:pic>
        <p:nvPicPr>
          <p:cNvPr id="4" name="图片 3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520" y="1754505"/>
            <a:ext cx="6783705" cy="3127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1381760" y="5731510"/>
            <a:ext cx="9428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https://www.oecd.org/en/about/programmes/pisa.html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实验三：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学校问卷数据集探索与分析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39395" y="1268730"/>
            <a:ext cx="11697335" cy="4968240"/>
          </a:xfrm>
        </p:spPr>
        <p:txBody>
          <a:bodyPr/>
          <a:lstStyle/>
          <a:p>
            <a:r>
              <a:rPr lang="zh-CN" altLang="en-US" dirty="0"/>
              <a:t>项目覆盖范围</a:t>
            </a:r>
          </a:p>
          <a:p>
            <a:pPr lvl="1"/>
            <a:r>
              <a:rPr lang="zh-CN" altLang="en-US" dirty="0"/>
              <a:t>自</a:t>
            </a:r>
            <a:r>
              <a:rPr lang="en-US" altLang="zh-CN" dirty="0"/>
              <a:t> 2000 </a:t>
            </a:r>
            <a:r>
              <a:rPr lang="zh-CN" altLang="en-US" dirty="0"/>
              <a:t>年以来，</a:t>
            </a:r>
            <a:r>
              <a:rPr lang="en-US" altLang="zh-CN" dirty="0"/>
              <a:t>PISA </a:t>
            </a:r>
            <a:r>
              <a:rPr lang="zh-CN" altLang="en-US" dirty="0"/>
              <a:t>项目已覆盖全球</a:t>
            </a:r>
            <a:r>
              <a:rPr lang="en-US" altLang="zh-CN" dirty="0"/>
              <a:t> 100 </a:t>
            </a:r>
            <a:r>
              <a:rPr lang="zh-CN" altLang="en-US" dirty="0"/>
              <a:t>多个国家和经济体以及约</a:t>
            </a:r>
            <a:r>
              <a:rPr lang="en-US" altLang="zh-CN" dirty="0"/>
              <a:t> 370 </a:t>
            </a:r>
            <a:r>
              <a:rPr lang="zh-CN" altLang="en-US" dirty="0"/>
              <a:t>万名学生，其中</a:t>
            </a:r>
            <a:r>
              <a:rPr lang="en-US" altLang="zh-CN" dirty="0"/>
              <a:t> PISA 2018 </a:t>
            </a:r>
            <a:r>
              <a:rPr lang="zh-CN" altLang="en-US" dirty="0"/>
              <a:t>项目涵盖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37 </a:t>
            </a:r>
            <a:r>
              <a:rPr lang="zh-CN" altLang="en-US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个世界经合（</a:t>
            </a:r>
            <a:r>
              <a:rPr lang="en-US" altLang="zh-CN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 OECD </a:t>
            </a:r>
            <a:r>
              <a:rPr lang="zh-CN" altLang="en-US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）组织国家与</a:t>
            </a:r>
            <a:r>
              <a:rPr lang="en-US" altLang="zh-CN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 42 </a:t>
            </a:r>
            <a:r>
              <a:rPr lang="zh-CN" altLang="en-US" dirty="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个伙伴国家与经济体。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54" y="2865211"/>
            <a:ext cx="7181215" cy="3475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实验三：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学校问卷数据集探索与分析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39350" y="1268760"/>
            <a:ext cx="11668906" cy="4968552"/>
          </a:xfrm>
        </p:spPr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任务简介</a:t>
            </a:r>
          </a:p>
          <a:p>
            <a:pPr lvl="1"/>
            <a:r>
              <a:rPr lang="zh-CN" altLang="en-US" sz="2400" dirty="0"/>
              <a:t>在国家层面上对学生总体做出推断，而不是评估学生个体的知识掌握情况</a:t>
            </a:r>
            <a:endParaRPr lang="en-US" altLang="zh-CN" sz="2400" dirty="0"/>
          </a:p>
          <a:p>
            <a:pPr lvl="1"/>
            <a:r>
              <a:rPr lang="zh-CN" altLang="en-US" sz="2400" dirty="0"/>
              <a:t>调查问卷：学生（含家长）</a:t>
            </a:r>
            <a:r>
              <a:rPr lang="en-US" altLang="zh-CN" sz="2400" dirty="0"/>
              <a:t>+ </a:t>
            </a:r>
            <a:r>
              <a:rPr lang="zh-CN" altLang="en-US" sz="2400" dirty="0"/>
              <a:t>教师 </a:t>
            </a:r>
            <a:r>
              <a:rPr lang="en-US" altLang="zh-CN" sz="2400" dirty="0"/>
              <a:t>+ </a:t>
            </a:r>
            <a:r>
              <a:rPr lang="zh-CN" altLang="en-US" sz="2400" dirty="0"/>
              <a:t>学校</a:t>
            </a:r>
            <a:endParaRPr lang="en-US" altLang="zh-CN" sz="2400" dirty="0"/>
          </a:p>
          <a:p>
            <a:pPr lvl="1"/>
            <a:r>
              <a:rPr lang="zh-CN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本实验数据集取自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PISA 2018 School Questionaire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，它包含对学校进行的调查结果。现要求基于此数据集进行处理和分析，请按要求完成实验任务。</a:t>
            </a:r>
          </a:p>
          <a:p>
            <a:endParaRPr lang="zh-CN" alt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618" y="3698522"/>
            <a:ext cx="5628191" cy="2711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C9E5EF-FCB4-4125-976B-CACB0CECC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27" y="3698522"/>
            <a:ext cx="4425842" cy="2711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实验三：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学校问卷数据集探索与分析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39350" y="1268760"/>
            <a:ext cx="11668906" cy="4968552"/>
          </a:xfrm>
        </p:spPr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任务流程概括（具体请查阅文档）</a:t>
            </a:r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/>
            <a:r>
              <a:rPr lang="zh-CN" altLang="en-US" dirty="0"/>
              <a:t>基本的数据集读取、缺失值和冗余列等预处理、探索性统计分析等操作</a:t>
            </a:r>
            <a:endParaRPr lang="en-US" altLang="zh-CN" dirty="0"/>
          </a:p>
          <a:p>
            <a:pPr lvl="1"/>
            <a:r>
              <a:rPr lang="zh-CN" altLang="en-US" dirty="0"/>
              <a:t>数据可视化分析（散点图、饼图、相关系数矩阵热力图等）</a:t>
            </a:r>
            <a:endParaRPr lang="en-US" altLang="zh-CN" dirty="0"/>
          </a:p>
          <a:p>
            <a:pPr lvl="1"/>
            <a:r>
              <a:rPr lang="zh-CN" altLang="en-US" dirty="0"/>
              <a:t>进阶分析：特征分布校验、参数估计与假设检验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95C012-7D9D-46A9-AF7E-65C81941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038" y="3240351"/>
            <a:ext cx="9801923" cy="3090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实验三：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学校问卷数据集探索与分析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39349" y="1268760"/>
            <a:ext cx="11660914" cy="4968552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注意事项</a:t>
            </a:r>
            <a:endParaRPr lang="en-US" altLang="zh-CN" dirty="0"/>
          </a:p>
          <a:p>
            <a:pPr lvl="1"/>
            <a:r>
              <a:rPr lang="zh-CN" altLang="en-US" dirty="0"/>
              <a:t>本实验可使用的外部库为 </a:t>
            </a:r>
            <a:r>
              <a:rPr lang="en-US" altLang="zh-CN" dirty="0"/>
              <a:t>pandas, </a:t>
            </a:r>
            <a:r>
              <a:rPr lang="en-US" altLang="zh-CN" dirty="0" err="1"/>
              <a:t>numpy</a:t>
            </a:r>
            <a:r>
              <a:rPr lang="en-US" altLang="zh-CN" dirty="0"/>
              <a:t>, matplotlib </a:t>
            </a:r>
            <a:r>
              <a:rPr lang="zh-CN" altLang="en-US" dirty="0"/>
              <a:t>和 </a:t>
            </a:r>
            <a:r>
              <a:rPr lang="en-US" altLang="zh-CN" dirty="0" err="1"/>
              <a:t>scipy</a:t>
            </a:r>
            <a:r>
              <a:rPr lang="zh-CN" altLang="en-US" dirty="0"/>
              <a:t>，请按任务要求使用。</a:t>
            </a:r>
            <a:endParaRPr lang="en-US" altLang="zh-CN" dirty="0"/>
          </a:p>
          <a:p>
            <a:pPr lvl="1"/>
            <a:r>
              <a:rPr lang="zh-CN" altLang="en-US" dirty="0"/>
              <a:t>数据和说明文件</a:t>
            </a:r>
            <a:r>
              <a:rPr lang="en-US" altLang="zh-CN" dirty="0"/>
              <a:t> data.csv </a:t>
            </a:r>
            <a:r>
              <a:rPr lang="zh-CN" altLang="en-US" dirty="0"/>
              <a:t>和 </a:t>
            </a:r>
            <a:r>
              <a:rPr lang="en-US" altLang="zh-CN" dirty="0"/>
              <a:t>codebook.xlsx </a:t>
            </a:r>
            <a:r>
              <a:rPr lang="zh-CN" altLang="en-US" dirty="0"/>
              <a:t>将在实验布置后发布于 </a:t>
            </a:r>
            <a:r>
              <a:rPr lang="en-US" altLang="zh-CN" dirty="0"/>
              <a:t>QQ </a:t>
            </a:r>
            <a:r>
              <a:rPr lang="zh-CN" altLang="en-US" dirty="0"/>
              <a:t>群内供大家下载。</a:t>
            </a:r>
            <a:endParaRPr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-US" altLang="zh-CN" dirty="0" err="1"/>
              <a:t>Jupyter</a:t>
            </a:r>
            <a:r>
              <a:rPr lang="en-US" altLang="zh-CN" dirty="0"/>
              <a:t> notebook </a:t>
            </a:r>
            <a:r>
              <a:rPr lang="zh-CN" altLang="en-US" dirty="0"/>
              <a:t>中完成代码编写任务后，请在保存代码的同时保留每个 </a:t>
            </a:r>
            <a:r>
              <a:rPr lang="en-US" altLang="zh-CN" dirty="0"/>
              <a:t>cell </a:t>
            </a:r>
            <a:r>
              <a:rPr lang="zh-CN" altLang="en-US" dirty="0"/>
              <a:t>运行的输出结果（文本、图表等），代码无需保留在实验报告中。</a:t>
            </a:r>
          </a:p>
          <a:p>
            <a:r>
              <a:rPr lang="zh-CN" altLang="en-US" dirty="0"/>
              <a:t>参考资料</a:t>
            </a:r>
            <a:endParaRPr lang="en-US" altLang="zh-CN" dirty="0"/>
          </a:p>
          <a:p>
            <a:pPr lvl="1"/>
            <a:r>
              <a:rPr lang="en-US" altLang="zh-CN" dirty="0"/>
              <a:t>Kaggle </a:t>
            </a:r>
            <a:r>
              <a:rPr lang="zh-CN" altLang="en-US" dirty="0"/>
              <a:t>数据挖掘与预测竞赛平台网站：</a:t>
            </a:r>
            <a:r>
              <a:rPr lang="en-US" altLang="zh-CN" dirty="0"/>
              <a:t>https://www.kaggle.com/</a:t>
            </a:r>
          </a:p>
          <a:p>
            <a:pPr lvl="1"/>
            <a:r>
              <a:rPr lang="zh-CN" altLang="en-US" dirty="0"/>
              <a:t>数据分析库 </a:t>
            </a:r>
            <a:r>
              <a:rPr lang="en-US" altLang="zh-CN" dirty="0"/>
              <a:t>pandas </a:t>
            </a:r>
            <a:r>
              <a:rPr lang="zh-CN" altLang="en-US" dirty="0"/>
              <a:t>官方网站：</a:t>
            </a:r>
            <a:r>
              <a:rPr lang="en-US" altLang="zh-CN" dirty="0"/>
              <a:t>https://pandas.pydata.org/</a:t>
            </a:r>
          </a:p>
          <a:p>
            <a:pPr lvl="1"/>
            <a:r>
              <a:rPr lang="zh-CN" altLang="en-US" dirty="0"/>
              <a:t>科学计算库 </a:t>
            </a:r>
            <a:r>
              <a:rPr lang="en-US" altLang="zh-CN" dirty="0" err="1"/>
              <a:t>numpy</a:t>
            </a:r>
            <a:r>
              <a:rPr lang="en-US" altLang="zh-CN" dirty="0"/>
              <a:t> </a:t>
            </a:r>
            <a:r>
              <a:rPr lang="zh-CN" altLang="en-US" dirty="0"/>
              <a:t>官方网站：</a:t>
            </a:r>
            <a:r>
              <a:rPr lang="en-US" altLang="zh-CN" dirty="0"/>
              <a:t>https://numpy.org/</a:t>
            </a:r>
          </a:p>
          <a:p>
            <a:pPr lvl="1"/>
            <a:r>
              <a:rPr lang="zh-CN" altLang="en-US" dirty="0"/>
              <a:t>数据可视化库 </a:t>
            </a:r>
            <a:r>
              <a:rPr lang="en-US" altLang="zh-CN" dirty="0"/>
              <a:t>matplotlib </a:t>
            </a:r>
            <a:r>
              <a:rPr lang="zh-CN" altLang="en-US" dirty="0"/>
              <a:t>官方网站：</a:t>
            </a:r>
            <a:r>
              <a:rPr lang="en-US" altLang="zh-CN" dirty="0"/>
              <a:t>https://matplotlib.org/</a:t>
            </a:r>
          </a:p>
          <a:p>
            <a:pPr lvl="1"/>
            <a:r>
              <a:rPr lang="zh-CN" altLang="en-US" dirty="0"/>
              <a:t>科学计算库 </a:t>
            </a:r>
            <a:r>
              <a:rPr lang="en-US" altLang="zh-CN" dirty="0" err="1"/>
              <a:t>scipy</a:t>
            </a:r>
            <a:r>
              <a:rPr lang="en-US" altLang="zh-CN" dirty="0"/>
              <a:t> </a:t>
            </a:r>
            <a:r>
              <a:rPr lang="zh-CN" altLang="en-US" dirty="0"/>
              <a:t>官方网站：</a:t>
            </a:r>
            <a:r>
              <a:rPr lang="en-US" altLang="zh-CN" dirty="0"/>
              <a:t>https://docs.scipy.org/doc/scipy/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实验三：</a:t>
            </a:r>
            <a:r>
              <a:rPr lang="en-US" altLang="zh-CN" dirty="0">
                <a:sym typeface="+mn-ea"/>
              </a:rPr>
              <a:t>PISA</a:t>
            </a:r>
            <a:r>
              <a:rPr lang="zh-CN" altLang="en-US" dirty="0">
                <a:sym typeface="+mn-ea"/>
              </a:rPr>
              <a:t>学校问卷数据集探索与分析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实验说明</a:t>
            </a:r>
            <a:endParaRPr lang="en-US" altLang="zh-CN" dirty="0"/>
          </a:p>
          <a:p>
            <a:pPr lvl="1"/>
            <a:r>
              <a:rPr lang="zh-CN" altLang="en-US" dirty="0"/>
              <a:t>请阅读文档文件 </a:t>
            </a:r>
            <a:r>
              <a:rPr lang="en-US" altLang="zh-CN" dirty="0"/>
              <a:t>exp3.pdf</a:t>
            </a:r>
            <a:r>
              <a:rPr lang="zh-CN" altLang="en-US" dirty="0"/>
              <a:t>，按要求完成实验，将代码文件命名为 </a:t>
            </a:r>
            <a:r>
              <a:rPr lang="en-US" altLang="zh-CN" dirty="0" err="1"/>
              <a:t>run.ipynb</a:t>
            </a:r>
            <a:r>
              <a:rPr lang="zh-CN" altLang="en-US" dirty="0"/>
              <a:t>，实验报告命名为</a:t>
            </a:r>
            <a:r>
              <a:rPr lang="en-US" altLang="zh-CN" dirty="0"/>
              <a:t>report.pdf</a:t>
            </a:r>
            <a:r>
              <a:rPr lang="zh-CN" altLang="en-US" dirty="0"/>
              <a:t>，将二者打包成一个压缩文件后发送到指定邮箱。</a:t>
            </a:r>
            <a:endParaRPr lang="en-US" altLang="zh-CN" dirty="0"/>
          </a:p>
          <a:p>
            <a:pPr lvl="1"/>
            <a:r>
              <a:rPr lang="zh-CN" altLang="en-US" dirty="0"/>
              <a:t>压缩文件命名格式：学号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实验三</a:t>
            </a:r>
            <a:r>
              <a:rPr lang="en-US" altLang="zh-CN" dirty="0"/>
              <a:t>.zip</a:t>
            </a:r>
          </a:p>
          <a:p>
            <a:pPr lvl="1"/>
            <a:r>
              <a:rPr lang="zh-CN" altLang="en-US" dirty="0"/>
              <a:t>邮件标题：学号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实验三</a:t>
            </a:r>
            <a:endParaRPr lang="en-US" altLang="zh-CN" dirty="0"/>
          </a:p>
          <a:p>
            <a:pPr lvl="1"/>
            <a:r>
              <a:rPr lang="zh-CN" altLang="en-US" dirty="0"/>
              <a:t>邮箱地址：</a:t>
            </a:r>
            <a:r>
              <a:rPr lang="en-US" altLang="zh-CN" dirty="0"/>
              <a:t>USTC_AD2025@163.com</a:t>
            </a:r>
          </a:p>
          <a:p>
            <a:pPr lvl="1"/>
            <a:r>
              <a:rPr lang="zh-CN" altLang="en-US" dirty="0"/>
              <a:t>截止日期：</a:t>
            </a:r>
            <a:r>
              <a:rPr lang="en-US" altLang="zh-CN" dirty="0">
                <a:solidFill>
                  <a:srgbClr val="FF0000"/>
                </a:solidFill>
              </a:rPr>
              <a:t>2025</a:t>
            </a:r>
            <a:r>
              <a:rPr lang="zh-CN" altLang="en-US" dirty="0">
                <a:solidFill>
                  <a:srgbClr val="FF0000"/>
                </a:solidFill>
              </a:rPr>
              <a:t>年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24</a:t>
            </a:r>
            <a:r>
              <a:rPr lang="zh-CN" altLang="en-US" dirty="0">
                <a:solidFill>
                  <a:srgbClr val="FF0000"/>
                </a:solidFill>
              </a:rPr>
              <a:t>日 </a:t>
            </a:r>
            <a:r>
              <a:rPr lang="en-US" altLang="zh-CN" dirty="0">
                <a:solidFill>
                  <a:srgbClr val="FF0000"/>
                </a:solidFill>
              </a:rPr>
              <a:t>23:59</a:t>
            </a:r>
          </a:p>
          <a:p>
            <a:r>
              <a:rPr lang="zh-CN" altLang="en-US" dirty="0"/>
              <a:t>评分标准</a:t>
            </a:r>
            <a:endParaRPr lang="en-US" altLang="zh-CN" dirty="0"/>
          </a:p>
          <a:p>
            <a:pPr lvl="1"/>
            <a:r>
              <a:rPr lang="zh-CN" altLang="en-US" dirty="0"/>
              <a:t>代码是否按照文档说明完成了各任务要求，是否简洁美观，是否可运行复现</a:t>
            </a:r>
            <a:endParaRPr lang="en-US" altLang="zh-CN" dirty="0"/>
          </a:p>
          <a:p>
            <a:pPr lvl="1"/>
            <a:r>
              <a:rPr lang="zh-CN" altLang="en-US" dirty="0"/>
              <a:t>实验报告是否涵盖了所有要求内容，格式是否规范，步骤是否清晰，结论是否合理</a:t>
            </a:r>
            <a:endParaRPr lang="en-US" altLang="zh-CN" dirty="0"/>
          </a:p>
          <a:p>
            <a:pPr lvl="1"/>
            <a:r>
              <a:rPr lang="zh-CN" altLang="en-US" dirty="0"/>
              <a:t>提交是否在截止日期之前完成，并符合提交规范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4b16dba-91d4-4dff-941c-60d6ae7bd03f"/>
  <p:tag name="COMMONDATA" val="eyJoZGlkIjoiOWU5NWE2ZGMwMDkwMTA5Yzk4ODYxNTJlZmExYWM1NzMifQ=="/>
</p:tagLst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ppt/theme/themeOverride2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744</Words>
  <Application>Microsoft Office PowerPoint</Application>
  <PresentationFormat>宽屏</PresentationFormat>
  <Paragraphs>57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-apple-system</vt:lpstr>
      <vt:lpstr>等线</vt:lpstr>
      <vt:lpstr>华文仿宋</vt:lpstr>
      <vt:lpstr>华文新魏</vt:lpstr>
      <vt:lpstr>宋体</vt:lpstr>
      <vt:lpstr>Arial</vt:lpstr>
      <vt:lpstr>Arial Black</vt:lpstr>
      <vt:lpstr>Calibri</vt:lpstr>
      <vt:lpstr>Calibri Light</vt:lpstr>
      <vt:lpstr>Palatino Linotype</vt:lpstr>
      <vt:lpstr>Times New Roman</vt:lpstr>
      <vt:lpstr>Tw Cen MT</vt:lpstr>
      <vt:lpstr>Wingdings</vt:lpstr>
      <vt:lpstr>Wingdings 2</vt:lpstr>
      <vt:lpstr>HDOfficeLightV0</vt:lpstr>
      <vt:lpstr>1_HDOfficeLightV0</vt:lpstr>
      <vt:lpstr>中性</vt:lpstr>
      <vt:lpstr>Office 主题</vt:lpstr>
      <vt:lpstr>1_Median</vt:lpstr>
      <vt:lpstr>PowerPoint 演示文稿</vt:lpstr>
      <vt:lpstr>实验三：PISA学校问卷数据集探索与分析</vt:lpstr>
      <vt:lpstr>实验三：PISA学校问卷数据集探索与分析</vt:lpstr>
      <vt:lpstr>实验三：PISA学校问卷数据集探索与分析</vt:lpstr>
      <vt:lpstr>实验三：PISA学校问卷数据集探索与分析</vt:lpstr>
      <vt:lpstr>实验三：PISA学校问卷数据集探索与分析</vt:lpstr>
      <vt:lpstr>实验三：PISA学校问卷数据集探索与分析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顾 垠</dc:creator>
  <cp:lastModifiedBy>Qingyang Mao</cp:lastModifiedBy>
  <cp:revision>320</cp:revision>
  <dcterms:created xsi:type="dcterms:W3CDTF">2020-09-16T10:56:00Z</dcterms:created>
  <dcterms:modified xsi:type="dcterms:W3CDTF">2025-03-26T11:34:27Z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B893E0F457994956AAD1A3E823B98788_12</vt:lpwstr>
  </property>
  <property fmtid="{D5CDD505-2E9C-101B-9397-08002B2CF9AE}" pid="3" name="KSOProductBuildVer">
    <vt:lpwstr>2052-12.1.0.20305</vt:lpwstr>
  </property>
</Properties>
</file>